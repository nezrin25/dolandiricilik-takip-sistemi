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embeddedFontLs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YoBMAX5O2aJNNmg88nHyKac9/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obotoMono-bold.fntdata"/><Relationship Id="rId21" Type="http://schemas.openxmlformats.org/officeDocument/2006/relationships/font" Target="fonts/RobotoMono-regular.fntdata"/><Relationship Id="rId24" Type="http://schemas.openxmlformats.org/officeDocument/2006/relationships/font" Target="fonts/RobotoMono-boldItalic.fntdata"/><Relationship Id="rId23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be1463a6f_0_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dbe1463a6f_0_1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dbe1463a6f_0_1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dc0d2467fe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dc0d2467fe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dc0d2467fe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0A1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77240" y="457200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DOKUZ EYLÜL ÜNİVERSİTESİ – FEN FAKÜLTESİ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77240" y="77724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AC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AAC8"/>
                </a:solidFill>
                <a:latin typeface="Calibri"/>
                <a:ea typeface="Calibri"/>
                <a:cs typeface="Calibri"/>
                <a:sym typeface="Calibri"/>
              </a:rPr>
              <a:t>BİLGİSAYAR BİLİMLERİ BÖLÜMÜ  |  BİL 2004 VERİTABANI YÖNETİMİ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77240" y="1325880"/>
            <a:ext cx="5669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DOLANDIRICILIK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77240" y="1965960"/>
            <a:ext cx="5669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TESPİT SİSTEMİ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77240" y="2651760"/>
            <a:ext cx="5669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AC8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8BAAC8"/>
                </a:solidFill>
                <a:latin typeface="Calibri"/>
                <a:ea typeface="Calibri"/>
                <a:cs typeface="Calibri"/>
                <a:sym typeface="Calibri"/>
              </a:rPr>
              <a:t>Fraud Detection System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77240" y="3090672"/>
            <a:ext cx="3200400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777240" y="3218688"/>
            <a:ext cx="3474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Berke BOZCA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Nazrin MAMMADOVA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Buse OZAN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675120" y="118872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2025–2026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BAHAR DÖNEMİ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6743425" y="3151450"/>
            <a:ext cx="243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5720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İçindekiler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749808"/>
            <a:ext cx="109728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57200" y="960120"/>
            <a:ext cx="548640" cy="566928"/>
          </a:xfrm>
          <a:prstGeom prst="rect">
            <a:avLst/>
          </a:prstGeom>
          <a:solidFill>
            <a:srgbClr val="1A56BB"/>
          </a:solidFill>
          <a:ln cap="flat" cmpd="sng" w="12700">
            <a:solidFill>
              <a:srgbClr val="1A56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57200" y="960120"/>
            <a:ext cx="548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143000" y="97840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Giriş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43000" y="126187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Projenin amacı, kapsamı ve gereksinimleri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1764792"/>
            <a:ext cx="548640" cy="566928"/>
          </a:xfrm>
          <a:prstGeom prst="rect">
            <a:avLst/>
          </a:prstGeom>
          <a:solidFill>
            <a:srgbClr val="1A56BB"/>
          </a:solidFill>
          <a:ln cap="flat" cmpd="sng" w="12700">
            <a:solidFill>
              <a:srgbClr val="1A56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57200" y="1764792"/>
            <a:ext cx="548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43000" y="17830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Veritabanı Tasarımı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143000" y="206654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Varlıklar, normalizasyon ve ER diyagramı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" y="2569464"/>
            <a:ext cx="548640" cy="566928"/>
          </a:xfrm>
          <a:prstGeom prst="rect">
            <a:avLst/>
          </a:prstGeom>
          <a:solidFill>
            <a:srgbClr val="1A56BB"/>
          </a:solidFill>
          <a:ln cap="flat" cmpd="sng" w="12700">
            <a:solidFill>
              <a:srgbClr val="1A56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57200" y="2569464"/>
            <a:ext cx="548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143000" y="25877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Veritabanı Uygulaması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143000" y="2871216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DDL, Trigger, Stored Procedure, Function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" y="3374136"/>
            <a:ext cx="548640" cy="566928"/>
          </a:xfrm>
          <a:prstGeom prst="rect">
            <a:avLst/>
          </a:prstGeom>
          <a:solidFill>
            <a:srgbClr val="1A56BB"/>
          </a:solidFill>
          <a:ln cap="flat" cmpd="sng" w="12700">
            <a:solidFill>
              <a:srgbClr val="1A56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57200" y="3374136"/>
            <a:ext cx="548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143000" y="3392424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Gelişmiş Sorgular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143000" y="367588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JOIN, GROUP BY, HAVING, filtreler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7200" y="4178808"/>
            <a:ext cx="548640" cy="566928"/>
          </a:xfrm>
          <a:prstGeom prst="rect">
            <a:avLst/>
          </a:prstGeom>
          <a:solidFill>
            <a:srgbClr val="1A56BB"/>
          </a:solidFill>
          <a:ln cap="flat" cmpd="sng" w="12700">
            <a:solidFill>
              <a:srgbClr val="1A56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57200" y="4178808"/>
            <a:ext cx="548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143000" y="419709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Arayüz Entegrasyonu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143000" y="448056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C# Windows Forms ve ADO.NET bağlantısı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45720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01  Giriş — Projenin Amacı ve Kapsamı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57200" y="749808"/>
            <a:ext cx="109728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457200" y="91440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Günümüzde dijital finansal işlemlerin artmasıyla birlikte dolandırıcılık faaliyetleri de önemli ölçüde artmış; riskli durumları erken aşamada belirleyebilen sistemlere duyulan ihtiyaç giderek büyümüştür.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57200" y="1920240"/>
            <a:ext cx="411480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57200" y="1920240"/>
            <a:ext cx="411480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594360" y="202996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Kullanıcı Yönetimi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94360" y="2395728"/>
            <a:ext cx="3840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Admin ve Müşteri rolleri, kimlik doğrulama ve yetkilendirme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800600" y="1920240"/>
            <a:ext cx="411480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800600" y="1920240"/>
            <a:ext cx="411480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937760" y="202996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💳 Hesap Hareketleri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937760" y="2395728"/>
            <a:ext cx="3840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Havale, EFT ve ödeme işlemlerinin anlık takibi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57200" y="3337560"/>
            <a:ext cx="411480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457200" y="3337560"/>
            <a:ext cx="411480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594360" y="344728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Cihaz &amp; Konum Takibi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94360" y="3813048"/>
            <a:ext cx="3840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Giriş yapılan cihaz ve coğrafi konum kaydı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800600" y="3337560"/>
            <a:ext cx="411480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4800600" y="3337560"/>
            <a:ext cx="411480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4937760" y="344728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⚠️ Risk Analizi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937760" y="3813048"/>
            <a:ext cx="3840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Şüpheli işlemlerin Low / Medium / High olarak sınıflandırılması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212080" y="868680"/>
            <a:ext cx="3566160" cy="868680"/>
          </a:xfrm>
          <a:prstGeom prst="rect">
            <a:avLst/>
          </a:prstGeom>
          <a:solidFill>
            <a:srgbClr val="0D1B40"/>
          </a:solidFill>
          <a:ln cap="flat" cmpd="sng" w="12700">
            <a:solidFill>
              <a:srgbClr val="0D1B4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5349240" y="89611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Temel Hedef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349240" y="1207008"/>
            <a:ext cx="3291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Finansal işlemleri analiz ederek şüpheli aktiviteleri otomatik tespit eden veritabanı sistemi.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5720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Dolandırıcılık Tespit Gereksinimleri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11480" y="960120"/>
            <a:ext cx="2697480" cy="3840480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1A3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411480" y="960120"/>
            <a:ext cx="269748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502920" y="144475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Riskli İşlem Analizi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21208" y="1901952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DD5F0"/>
                </a:solidFill>
                <a:latin typeface="Calibri"/>
                <a:ea typeface="Calibri"/>
                <a:cs typeface="Calibri"/>
                <a:sym typeface="Calibri"/>
              </a:rPr>
              <a:t>▸  Olağan dışı yüksek miktarlı transferler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21208" y="2569464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DD5F0"/>
                </a:solidFill>
                <a:latin typeface="Calibri"/>
                <a:ea typeface="Calibri"/>
                <a:cs typeface="Calibri"/>
                <a:sym typeface="Calibri"/>
              </a:rPr>
              <a:t>▸  Çok kısa sürede tekrarlanan (spam) işlemler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21208" y="3236976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DD5F0"/>
                </a:solidFill>
                <a:latin typeface="Calibri"/>
                <a:ea typeface="Calibri"/>
                <a:cs typeface="Calibri"/>
                <a:sym typeface="Calibri"/>
              </a:rPr>
              <a:t>▸  Alışılmış konumdan farklı bölgeden yapılan girişler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21208" y="3904488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DD5F0"/>
                </a:solidFill>
                <a:latin typeface="Calibri"/>
                <a:ea typeface="Calibri"/>
                <a:cs typeface="Calibri"/>
                <a:sym typeface="Calibri"/>
              </a:rPr>
              <a:t>▸  Kriterlere uyan işlemler otomatik "şüpheli" işaretlenir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319272" y="960120"/>
            <a:ext cx="2697480" cy="3840480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1A3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3319272" y="960120"/>
            <a:ext cx="269748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3410712" y="144475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Kayıt ve Sınıflandırma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429000" y="1901952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DD5F0"/>
                </a:solidFill>
                <a:latin typeface="Calibri"/>
                <a:ea typeface="Calibri"/>
                <a:cs typeface="Calibri"/>
                <a:sym typeface="Calibri"/>
              </a:rPr>
              <a:t>▸  Şüpheli işlemler ayrı tabloda arşivlenir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3429000" y="2569464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DD5F0"/>
                </a:solidFill>
                <a:latin typeface="Calibri"/>
                <a:ea typeface="Calibri"/>
                <a:cs typeface="Calibri"/>
                <a:sym typeface="Calibri"/>
              </a:rPr>
              <a:t>▸  Kayıtlar ilgili işlemle doğrudan ilişkilidir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429000" y="3236976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DD5F0"/>
                </a:solidFill>
                <a:latin typeface="Calibri"/>
                <a:ea typeface="Calibri"/>
                <a:cs typeface="Calibri"/>
                <a:sym typeface="Calibri"/>
              </a:rPr>
              <a:t>▸  Risk seviyeleri: LOW · MEDIUM · HIGH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429000" y="3904488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DD5F0"/>
                </a:solidFill>
                <a:latin typeface="Calibri"/>
                <a:ea typeface="Calibri"/>
                <a:cs typeface="Calibri"/>
                <a:sym typeface="Calibri"/>
              </a:rPr>
              <a:t>▸  Veri bütünlüğü korunarak raporlama yapılır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227064" y="960120"/>
            <a:ext cx="2697480" cy="3840480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1A3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6227064" y="960120"/>
            <a:ext cx="269748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6318504" y="144475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Cihaz ve Giriş Takibi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336792" y="1901952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DD5F0"/>
                </a:solidFill>
                <a:latin typeface="Calibri"/>
                <a:ea typeface="Calibri"/>
                <a:cs typeface="Calibri"/>
                <a:sym typeface="Calibri"/>
              </a:rPr>
              <a:t>▸  Kullanıcının bağlandığı cihaz türü (Mobil/Web)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336792" y="2569464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DD5F0"/>
                </a:solidFill>
                <a:latin typeface="Calibri"/>
                <a:ea typeface="Calibri"/>
                <a:cs typeface="Calibri"/>
                <a:sym typeface="Calibri"/>
              </a:rPr>
              <a:t>▸  Coğrafi konum (Şehir / IP adresi) anlık kaydedilir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336792" y="3236976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DD5F0"/>
                </a:solidFill>
                <a:latin typeface="Calibri"/>
                <a:ea typeface="Calibri"/>
                <a:cs typeface="Calibri"/>
                <a:sym typeface="Calibri"/>
              </a:rPr>
              <a:t>▸  Dolandırıcılık analizinde temel veri kaynağı olarak kullanılır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336792" y="3904488"/>
            <a:ext cx="24871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DD5F0"/>
                </a:solidFill>
                <a:latin typeface="Calibri"/>
                <a:ea typeface="Calibri"/>
                <a:cs typeface="Calibri"/>
                <a:sym typeface="Calibri"/>
              </a:rPr>
              <a:t>▸  Güvenlik katmanını güçlendirir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45720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02  Veritabanı Tasarımı — Varlıklar ve Öznitelikler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57200" y="749808"/>
            <a:ext cx="109728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411480" y="987552"/>
            <a:ext cx="2697480" cy="1874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411480" y="987552"/>
            <a:ext cx="2697480" cy="438912"/>
          </a:xfrm>
          <a:prstGeom prst="rect">
            <a:avLst/>
          </a:prstGeom>
          <a:solidFill>
            <a:srgbClr val="1A56BB"/>
          </a:solidFill>
          <a:ln cap="flat" cmpd="sng" w="12700">
            <a:solidFill>
              <a:srgbClr val="1A56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502920" y="987552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Kullanıcılar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48640" y="1463040"/>
            <a:ext cx="24231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KullaniciID (PK)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AdSoyad  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Eposta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Sifre 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RolID (FK)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319272" y="987552"/>
            <a:ext cx="2697480" cy="1874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3319272" y="987552"/>
            <a:ext cx="2697480" cy="438912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3410712" y="987552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3456432" y="1463040"/>
            <a:ext cx="24231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RolID (PK)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RolAdi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(Admin / Müşteri)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227064" y="987552"/>
            <a:ext cx="2697480" cy="1874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6227064" y="987552"/>
            <a:ext cx="2697480" cy="438912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6318504" y="987552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Hesaplar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364224" y="1463040"/>
            <a:ext cx="24231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HesapID (PK)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KullaniciID (FK)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Bakiye  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HesapTuru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11480" y="2980944"/>
            <a:ext cx="2697480" cy="1874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411480" y="2980944"/>
            <a:ext cx="2697480" cy="438912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502920" y="2980944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İşlemler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48640" y="3456432"/>
            <a:ext cx="24231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IslemID (PK)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GonderenHesapID (FK)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AliciHesapID (FK)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Miktar  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Tarih  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Konum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3319272" y="2980944"/>
            <a:ext cx="2697480" cy="1874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3319272" y="2980944"/>
            <a:ext cx="2697480" cy="43891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3410712" y="2980944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Giriş Takibi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456432" y="3456432"/>
            <a:ext cx="24231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GirisID (PK)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KullaniciID (FK)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Cihaz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Konum    </a:t>
            </a:r>
            <a:endParaRPr b="0" i="0" sz="105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Tarih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227064" y="2980944"/>
            <a:ext cx="2697480" cy="1874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6227064" y="2980944"/>
            <a:ext cx="2697480" cy="438912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6318504" y="2980944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Analizi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364224" y="3456432"/>
            <a:ext cx="24231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RiskID (PK)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IslemID (FK)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RiskPuani 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Durum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TespitTarihi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6"/>
          <p:cNvGrpSpPr/>
          <p:nvPr/>
        </p:nvGrpSpPr>
        <p:grpSpPr>
          <a:xfrm>
            <a:off x="228600" y="228600"/>
            <a:ext cx="8686800" cy="571500"/>
            <a:chOff x="228600" y="228600"/>
            <a:chExt cx="8686800" cy="571500"/>
          </a:xfrm>
        </p:grpSpPr>
        <p:sp>
          <p:nvSpPr>
            <p:cNvPr id="150" name="Google Shape;150;p6"/>
            <p:cNvSpPr/>
            <p:nvPr/>
          </p:nvSpPr>
          <p:spPr>
            <a:xfrm>
              <a:off x="228600" y="228600"/>
              <a:ext cx="86868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6"/>
            <p:cNvSpPr txBox="1"/>
            <p:nvPr/>
          </p:nvSpPr>
          <p:spPr>
            <a:xfrm>
              <a:off x="457200" y="228600"/>
              <a:ext cx="8229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02 </a:t>
              </a:r>
              <a:r>
                <a:rPr b="1" lang="en-US" sz="2400">
                  <a:solidFill>
                    <a:srgbClr val="3B82F6"/>
                  </a:solidFill>
                  <a:latin typeface="Calibri"/>
                  <a:ea typeface="Calibri"/>
                  <a:cs typeface="Calibri"/>
                  <a:sym typeface="Calibri"/>
                </a:rPr>
                <a:t>|</a:t>
              </a:r>
              <a:r>
                <a:rPr b="1" lang="en-US" sz="24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 Normalizasyon Süreci (1NF → 2NF → 3NF)</a:t>
              </a:r>
              <a:endParaRPr b="1" sz="24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6"/>
          <p:cNvGrpSpPr/>
          <p:nvPr/>
        </p:nvGrpSpPr>
        <p:grpSpPr>
          <a:xfrm>
            <a:off x="457200" y="1047750"/>
            <a:ext cx="2667000" cy="3619500"/>
            <a:chOff x="457200" y="1047750"/>
            <a:chExt cx="2667000" cy="3619500"/>
          </a:xfrm>
        </p:grpSpPr>
        <p:sp>
          <p:nvSpPr>
            <p:cNvPr id="153" name="Google Shape;153;p6"/>
            <p:cNvSpPr/>
            <p:nvPr/>
          </p:nvSpPr>
          <p:spPr>
            <a:xfrm>
              <a:off x="457200" y="1047750"/>
              <a:ext cx="2667000" cy="3619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457200" y="1047750"/>
              <a:ext cx="2667000" cy="457200"/>
            </a:xfrm>
            <a:prstGeom prst="roundRect">
              <a:avLst>
                <a:gd fmla="val 25000" name="adj"/>
              </a:avLst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457200" y="1276350"/>
              <a:ext cx="2667000" cy="228600"/>
            </a:xfrm>
            <a:prstGeom prst="rect">
              <a:avLst/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6"/>
            <p:cNvSpPr txBox="1"/>
            <p:nvPr/>
          </p:nvSpPr>
          <p:spPr>
            <a:xfrm>
              <a:off x="457200" y="1047750"/>
              <a:ext cx="2667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1NF</a:t>
              </a:r>
              <a:endParaRPr b="1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6"/>
            <p:cNvSpPr txBox="1"/>
            <p:nvPr/>
          </p:nvSpPr>
          <p:spPr>
            <a:xfrm>
              <a:off x="609600" y="1581150"/>
              <a:ext cx="2362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3A8A"/>
                  </a:solidFill>
                  <a:latin typeface="Calibri"/>
                  <a:ea typeface="Calibri"/>
                  <a:cs typeface="Calibri"/>
                  <a:sym typeface="Calibri"/>
                </a:rPr>
                <a:t>Birinci Normal Form</a:t>
              </a:r>
              <a:endParaRPr b="1" sz="130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6"/>
            <p:cNvSpPr txBox="1"/>
            <p:nvPr/>
          </p:nvSpPr>
          <p:spPr>
            <a:xfrm>
              <a:off x="609600" y="1905000"/>
              <a:ext cx="2362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• Tüm sütunlar atomik hale getirildi.</a:t>
              </a:r>
              <a:endParaRPr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• Tekrarlayan gruplar kaldırıldı.</a:t>
              </a:r>
              <a:endParaRPr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• Tüm veriler tek geniş tabloda toplandı.</a:t>
              </a:r>
              <a:endParaRPr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609600" y="3571875"/>
              <a:ext cx="2362200" cy="952500"/>
            </a:xfrm>
            <a:prstGeom prst="roundRect">
              <a:avLst>
                <a:gd fmla="val 8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6"/>
            <p:cNvSpPr txBox="1"/>
            <p:nvPr/>
          </p:nvSpPr>
          <p:spPr>
            <a:xfrm>
              <a:off x="704850" y="3667125"/>
              <a:ext cx="21717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1E40AF"/>
                  </a:solidFill>
                  <a:latin typeface="Calibri"/>
                  <a:ea typeface="Calibri"/>
                  <a:cs typeface="Calibri"/>
                  <a:sym typeface="Calibri"/>
                </a:rPr>
                <a:t>📋 Tablo: IslemKayitlar</a:t>
              </a:r>
              <a:endParaRPr b="1" sz="950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(KullaniciNo, IslemNo, AdSoyad, Rol, HesapNo, Tip, Miktar, Tarih, Cihaz, Konum, Risk)</a:t>
              </a:r>
              <a:endParaRPr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6"/>
          <p:cNvGrpSpPr/>
          <p:nvPr/>
        </p:nvGrpSpPr>
        <p:grpSpPr>
          <a:xfrm>
            <a:off x="3238500" y="1047750"/>
            <a:ext cx="2667000" cy="3619500"/>
            <a:chOff x="3238500" y="1047750"/>
            <a:chExt cx="2667000" cy="3619500"/>
          </a:xfrm>
        </p:grpSpPr>
        <p:sp>
          <p:nvSpPr>
            <p:cNvPr id="162" name="Google Shape;162;p6"/>
            <p:cNvSpPr/>
            <p:nvPr/>
          </p:nvSpPr>
          <p:spPr>
            <a:xfrm>
              <a:off x="3238500" y="1047750"/>
              <a:ext cx="2667000" cy="3619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3238500" y="1047750"/>
              <a:ext cx="2667000" cy="457200"/>
            </a:xfrm>
            <a:prstGeom prst="roundRect">
              <a:avLst>
                <a:gd fmla="val 2500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3238500" y="1276350"/>
              <a:ext cx="2667000" cy="228600"/>
            </a:xfrm>
            <a:prstGeom prst="rect">
              <a:avLst/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6"/>
            <p:cNvSpPr txBox="1"/>
            <p:nvPr/>
          </p:nvSpPr>
          <p:spPr>
            <a:xfrm>
              <a:off x="3238500" y="1047750"/>
              <a:ext cx="2667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2NF</a:t>
              </a:r>
              <a:endParaRPr b="1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6"/>
            <p:cNvSpPr txBox="1"/>
            <p:nvPr/>
          </p:nvSpPr>
          <p:spPr>
            <a:xfrm>
              <a:off x="3390900" y="1581150"/>
              <a:ext cx="2362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766E"/>
                  </a:solidFill>
                  <a:latin typeface="Calibri"/>
                  <a:ea typeface="Calibri"/>
                  <a:cs typeface="Calibri"/>
                  <a:sym typeface="Calibri"/>
                </a:rPr>
                <a:t>İkinci Normal Form</a:t>
              </a:r>
              <a:endParaRPr b="1" sz="130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6"/>
            <p:cNvSpPr txBox="1"/>
            <p:nvPr/>
          </p:nvSpPr>
          <p:spPr>
            <a:xfrm>
              <a:off x="3390900" y="1905000"/>
              <a:ext cx="2362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71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• Kısmi bağımlılıklar kaldırıldı.</a:t>
              </a:r>
              <a:endParaRPr sz="971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71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• Veriler mantıksal gruplara ayrıldı.</a:t>
              </a:r>
              <a:endParaRPr sz="971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71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• Öznitelikler yalnızca kendi anahtarına bağlı.</a:t>
              </a:r>
              <a:endParaRPr sz="971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3390900" y="3571875"/>
              <a:ext cx="2362200" cy="952500"/>
            </a:xfrm>
            <a:prstGeom prst="roundRect">
              <a:avLst>
                <a:gd fmla="val 8000" name="adj"/>
              </a:avLst>
            </a:prstGeom>
            <a:solidFill>
              <a:srgbClr val="F0FD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6"/>
            <p:cNvSpPr txBox="1"/>
            <p:nvPr/>
          </p:nvSpPr>
          <p:spPr>
            <a:xfrm>
              <a:off x="3486150" y="3667125"/>
              <a:ext cx="21717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F766E"/>
                  </a:solidFill>
                  <a:latin typeface="Calibri"/>
                  <a:ea typeface="Calibri"/>
                  <a:cs typeface="Calibri"/>
                  <a:sym typeface="Calibri"/>
                </a:rPr>
                <a:t>📋 Tablo Yapısı</a:t>
              </a:r>
              <a:endParaRPr b="1" sz="9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• Kullanicilar · Islemler</a:t>
              </a:r>
              <a:endParaRPr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• GirisTakibi · RiskAnalizi</a:t>
              </a:r>
              <a:endParaRPr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6"/>
          <p:cNvGrpSpPr/>
          <p:nvPr/>
        </p:nvGrpSpPr>
        <p:grpSpPr>
          <a:xfrm>
            <a:off x="6019800" y="1047750"/>
            <a:ext cx="2667000" cy="3619500"/>
            <a:chOff x="6019800" y="1047750"/>
            <a:chExt cx="2667000" cy="3619500"/>
          </a:xfrm>
        </p:grpSpPr>
        <p:sp>
          <p:nvSpPr>
            <p:cNvPr id="171" name="Google Shape;171;p6"/>
            <p:cNvSpPr/>
            <p:nvPr/>
          </p:nvSpPr>
          <p:spPr>
            <a:xfrm>
              <a:off x="6019800" y="1047750"/>
              <a:ext cx="2667000" cy="3619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6019800" y="1047750"/>
              <a:ext cx="2667000" cy="457200"/>
            </a:xfrm>
            <a:prstGeom prst="roundRect">
              <a:avLst>
                <a:gd fmla="val 25000" name="adj"/>
              </a:avLst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6019800" y="1276350"/>
              <a:ext cx="2667000" cy="228600"/>
            </a:xfrm>
            <a:prstGeom prst="rect">
              <a:avLst/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6"/>
            <p:cNvSpPr txBox="1"/>
            <p:nvPr/>
          </p:nvSpPr>
          <p:spPr>
            <a:xfrm>
              <a:off x="6019800" y="1047750"/>
              <a:ext cx="2667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3NF</a:t>
              </a:r>
              <a:endParaRPr b="1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6"/>
            <p:cNvSpPr txBox="1"/>
            <p:nvPr/>
          </p:nvSpPr>
          <p:spPr>
            <a:xfrm>
              <a:off x="6172200" y="1581150"/>
              <a:ext cx="2362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991B1B"/>
                  </a:solidFill>
                  <a:latin typeface="Calibri"/>
                  <a:ea typeface="Calibri"/>
                  <a:cs typeface="Calibri"/>
                  <a:sym typeface="Calibri"/>
                </a:rPr>
                <a:t>Üçüncü Normal Form</a:t>
              </a:r>
              <a:endParaRPr b="1" sz="130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6"/>
            <p:cNvSpPr txBox="1"/>
            <p:nvPr/>
          </p:nvSpPr>
          <p:spPr>
            <a:xfrm>
              <a:off x="6172200" y="1905000"/>
              <a:ext cx="2362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• Geçişli bağımlılıklar giderildi.</a:t>
              </a:r>
              <a:endParaRPr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• Rol bilgisi ayrı tabloya taşındı.</a:t>
              </a:r>
              <a:endParaRPr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• Hesaplar bağımsız varlık oldu.</a:t>
              </a:r>
              <a:endParaRPr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6172200" y="3571875"/>
              <a:ext cx="2362200" cy="952500"/>
            </a:xfrm>
            <a:prstGeom prst="roundRect">
              <a:avLst>
                <a:gd fmla="val 8000" name="adj"/>
              </a:avLst>
            </a:prstGeom>
            <a:solidFill>
              <a:srgbClr val="FEF2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6"/>
            <p:cNvSpPr txBox="1"/>
            <p:nvPr/>
          </p:nvSpPr>
          <p:spPr>
            <a:xfrm>
              <a:off x="6267450" y="3667125"/>
              <a:ext cx="21717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991B1B"/>
                  </a:solidFill>
                  <a:latin typeface="Calibri"/>
                  <a:ea typeface="Calibri"/>
                  <a:cs typeface="Calibri"/>
                  <a:sym typeface="Calibri"/>
                </a:rPr>
                <a:t>📋 Tablo Yapısı</a:t>
              </a:r>
              <a:endParaRPr b="1" sz="95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• Kullanicilar · Roller · Hesaplar</a:t>
              </a:r>
              <a:endParaRPr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• Islemler · GirisTakibi · RiskAnalizi</a:t>
              </a:r>
              <a:endParaRPr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0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457200" y="13716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 Diyagramı — İlişkisel Bağlantılar ve Kardinalite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57200" y="713232"/>
            <a:ext cx="13716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411480" y="914400"/>
            <a:ext cx="1463040" cy="475488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11480" y="914400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Kullanıcı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965960" y="987552"/>
            <a:ext cx="1005840" cy="3200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1965960" y="987552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 :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3063240" y="914400"/>
            <a:ext cx="1463040" cy="475488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3063240" y="914400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709160" y="93268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DD5F0"/>
                </a:solidFill>
                <a:latin typeface="Calibri"/>
                <a:ea typeface="Calibri"/>
                <a:cs typeface="Calibri"/>
                <a:sym typeface="Calibri"/>
              </a:rPr>
              <a:t>Her kullanıcı tek bir rol grubuna (Admin/Müşteri) dahildir. Binlerce kullanıcı tek rol tanımını paylaşır.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411480" y="1719072"/>
            <a:ext cx="1463040" cy="475488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411480" y="171907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Kullanıcı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1965960" y="1792224"/>
            <a:ext cx="1005840" cy="32004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1965960" y="1792224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: 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3063240" y="1719072"/>
            <a:ext cx="1463040" cy="475488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3063240" y="171907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Hesap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709160" y="173736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DD5F0"/>
                </a:solidFill>
                <a:latin typeface="Calibri"/>
                <a:ea typeface="Calibri"/>
                <a:cs typeface="Calibri"/>
                <a:sym typeface="Calibri"/>
              </a:rPr>
              <a:t>Bir kullanıcının birden fazla hesabı (vadesiz, döviz vb.) olabilir. Hesap_No PK, KullaniciID FK.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11480" y="2523744"/>
            <a:ext cx="1463040" cy="475488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AB6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411480" y="2523744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B63F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B63FA"/>
                </a:solidFill>
                <a:latin typeface="Calibri"/>
                <a:ea typeface="Calibri"/>
                <a:cs typeface="Calibri"/>
                <a:sym typeface="Calibri"/>
              </a:rPr>
              <a:t>Hesap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1965960" y="2596896"/>
            <a:ext cx="1005840" cy="320040"/>
          </a:xfrm>
          <a:prstGeom prst="rect">
            <a:avLst/>
          </a:prstGeom>
          <a:solidFill>
            <a:srgbClr val="AB63FA"/>
          </a:solidFill>
          <a:ln cap="flat" cmpd="sng" w="12700">
            <a:solidFill>
              <a:srgbClr val="AB6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1965960" y="2596896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: 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3063240" y="2523744"/>
            <a:ext cx="1463040" cy="475488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AB6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3063240" y="2523744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B63F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B63FA"/>
                </a:solidFill>
                <a:latin typeface="Calibri"/>
                <a:ea typeface="Calibri"/>
                <a:cs typeface="Calibri"/>
                <a:sym typeface="Calibri"/>
              </a:rPr>
              <a:t>İşlem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709160" y="254203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DD5F0"/>
                </a:solidFill>
                <a:latin typeface="Calibri"/>
                <a:ea typeface="Calibri"/>
                <a:cs typeface="Calibri"/>
                <a:sym typeface="Calibri"/>
              </a:rPr>
              <a:t>İşlemler tablosu hem GonderenHesapID hem AliciHesapID üzerinden çift FK ile Hesaplar tablosuna bağlanır.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11480" y="3328416"/>
            <a:ext cx="1463040" cy="475488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411480" y="3328416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Kullanıcı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1965960" y="3401568"/>
            <a:ext cx="1005840" cy="320040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1965960" y="3401568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: 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3063240" y="3328416"/>
            <a:ext cx="1463040" cy="475488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3063240" y="3328416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Giriş Takibi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709160" y="3346704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DD5F0"/>
                </a:solidFill>
                <a:latin typeface="Calibri"/>
                <a:ea typeface="Calibri"/>
                <a:cs typeface="Calibri"/>
                <a:sym typeface="Calibri"/>
              </a:rPr>
              <a:t>Kullanıcı farklı cihaz ve konumlardan defalarca giriş yapabilir; her kayıt dijital ayak izini oluşturur.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11480" y="4133088"/>
            <a:ext cx="1463040" cy="475488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411480" y="4133088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İşlem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1965960" y="4206240"/>
            <a:ext cx="1005840" cy="3200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1965960" y="420624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: 0..1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3063240" y="4133088"/>
            <a:ext cx="1463040" cy="475488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3063240" y="4133088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Risk Analizi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4709160" y="4151376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DD5F0"/>
                </a:solidFill>
                <a:latin typeface="Calibri"/>
                <a:ea typeface="Calibri"/>
                <a:cs typeface="Calibri"/>
                <a:sym typeface="Calibri"/>
              </a:rPr>
              <a:t>İsteğe bağlı ilişki: sadece şüpheli bulunan işlemler için Risk tablosunda tek kayıt oluşturulur.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be1463a6f_0_13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dbe1463a6f_0_133"/>
          <p:cNvSpPr txBox="1"/>
          <p:nvPr/>
        </p:nvSpPr>
        <p:spPr>
          <a:xfrm>
            <a:off x="515800" y="240300"/>
            <a:ext cx="794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ER Diyagramı — İlişkisel Bağlantılar ve Kardinalite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dbe1463a6f_0_133"/>
          <p:cNvSpPr/>
          <p:nvPr/>
        </p:nvSpPr>
        <p:spPr>
          <a:xfrm>
            <a:off x="515800" y="794399"/>
            <a:ext cx="1875600" cy="61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g3dbe1463a6f_0_133" title="ödev1.png"/>
          <p:cNvPicPr preferRelativeResize="0"/>
          <p:nvPr/>
        </p:nvPicPr>
        <p:blipFill rotWithShape="1">
          <a:blip r:embed="rId3">
            <a:alphaModFix/>
          </a:blip>
          <a:srcRect b="6299" l="23119" r="31619" t="10159"/>
          <a:stretch/>
        </p:blipFill>
        <p:spPr>
          <a:xfrm>
            <a:off x="778575" y="855900"/>
            <a:ext cx="4273824" cy="39016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dbe1463a6f_0_133"/>
          <p:cNvSpPr txBox="1"/>
          <p:nvPr/>
        </p:nvSpPr>
        <p:spPr>
          <a:xfrm>
            <a:off x="5178700" y="1269300"/>
            <a:ext cx="3818400" cy="3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768AA9"/>
                </a:solidFill>
              </a:rPr>
              <a:t>1. Oturum Başlangıcı:</a:t>
            </a:r>
            <a:r>
              <a:rPr lang="en-US" sz="1100">
                <a:solidFill>
                  <a:srgbClr val="768AA9"/>
                </a:solidFill>
              </a:rPr>
              <a:t> </a:t>
            </a:r>
            <a:r>
              <a:rPr lang="en-US" sz="1100">
                <a:solidFill>
                  <a:schemeClr val="lt1"/>
                </a:solidFill>
              </a:rPr>
              <a:t>Kullanıcı sisteme bağlanır; cihaz ve coğrafi konum verileri anlık olarak güvenlik için </a:t>
            </a:r>
            <a:r>
              <a:rPr lang="en-US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GIRIS_TAKIP</a:t>
            </a:r>
            <a:r>
              <a:rPr lang="en-US" sz="1100">
                <a:solidFill>
                  <a:schemeClr val="lt1"/>
                </a:solidFill>
              </a:rPr>
              <a:t> tablosuna kaydedilir.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768AA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768AA9"/>
                </a:solidFill>
              </a:rPr>
              <a:t>2. Finansal Hareket:</a:t>
            </a:r>
            <a:r>
              <a:rPr lang="en-US" sz="1100">
                <a:solidFill>
                  <a:srgbClr val="768AA9"/>
                </a:solidFill>
              </a:rPr>
              <a:t> </a:t>
            </a:r>
            <a:r>
              <a:rPr lang="en-US" sz="1100">
                <a:solidFill>
                  <a:schemeClr val="lt1"/>
                </a:solidFill>
              </a:rPr>
              <a:t>Kullanıcıya ait </a:t>
            </a:r>
            <a:r>
              <a:rPr lang="en-US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HESAP</a:t>
            </a:r>
            <a:r>
              <a:rPr lang="en-US" sz="1100">
                <a:solidFill>
                  <a:schemeClr val="lt1"/>
                </a:solidFill>
              </a:rPr>
              <a:t> üzerinden yeni bir para transferi veya ödeme (</a:t>
            </a:r>
            <a:r>
              <a:rPr lang="en-US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ISLEM</a:t>
            </a:r>
            <a:r>
              <a:rPr lang="en-US" sz="1100">
                <a:solidFill>
                  <a:schemeClr val="lt1"/>
                </a:solidFill>
              </a:rPr>
              <a:t>) başlatılır.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768AA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768AA9"/>
                </a:solidFill>
              </a:rPr>
              <a:t>3. Anlık Risk Kontrolü:</a:t>
            </a:r>
            <a:r>
              <a:rPr lang="en-US" sz="1100">
                <a:solidFill>
                  <a:srgbClr val="768AA9"/>
                </a:solidFill>
              </a:rPr>
              <a:t> </a:t>
            </a:r>
            <a:r>
              <a:rPr lang="en-US" sz="1100">
                <a:solidFill>
                  <a:schemeClr val="lt1"/>
                </a:solidFill>
              </a:rPr>
              <a:t>İşlem veritabanına işlendiği anda, arka planda çalışan kural motoru (Trigger) devreye girerek işlemi analiz eder.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768AA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768AA9"/>
                </a:solidFill>
              </a:rPr>
              <a:t>4. Şüpheli Durum Kaydı:</a:t>
            </a:r>
            <a:r>
              <a:rPr lang="en-US" sz="1100">
                <a:solidFill>
                  <a:srgbClr val="768AA9"/>
                </a:solidFill>
              </a:rPr>
              <a:t> </a:t>
            </a:r>
            <a:r>
              <a:rPr lang="en-US" sz="1100">
                <a:solidFill>
                  <a:schemeClr val="lt1"/>
                </a:solidFill>
              </a:rPr>
              <a:t>Kriterleri ihlal eden (örn. 10.000 TL üzeri) işlemler, sistem tarafından otomatik yakalanarak </a:t>
            </a:r>
            <a:r>
              <a:rPr lang="en-US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RISK_ANALIZI</a:t>
            </a:r>
            <a:r>
              <a:rPr lang="en-US" sz="1100">
                <a:solidFill>
                  <a:schemeClr val="lt1"/>
                </a:solidFill>
              </a:rPr>
              <a:t> tablosuna yüksek riskli olarak işlenir.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68AA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45720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03  Veritabanı Uygulaması — DDL Tablo Yapıları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457200" y="749808"/>
            <a:ext cx="109728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457200" y="89611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Oluşturulan Tablolar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457200" y="1261872"/>
            <a:ext cx="841248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594360" y="1307592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B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56BB"/>
                </a:solidFill>
                <a:latin typeface="Calibri"/>
                <a:ea typeface="Calibri"/>
                <a:cs typeface="Calibri"/>
                <a:sym typeface="Calibri"/>
              </a:rPr>
              <a:t>Roller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594360" y="160020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RolID (PK · IDENTITY) · RolAdi (NOT NULL)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57200" y="2011680"/>
            <a:ext cx="8412480" cy="658368"/>
          </a:xfrm>
          <a:prstGeom prst="rect">
            <a:avLst/>
          </a:prstGeom>
          <a:solidFill>
            <a:srgbClr val="E8F1FB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594360" y="205740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B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56BB"/>
                </a:solidFill>
                <a:latin typeface="Calibri"/>
                <a:ea typeface="Calibri"/>
                <a:cs typeface="Calibri"/>
                <a:sym typeface="Calibri"/>
              </a:rPr>
              <a:t>Kullanicilar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594360" y="235000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KullaniciID (PK) · AdSoyad · Eposta (UNIQUE) · Sifre · RolID (FK)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457200" y="2761488"/>
            <a:ext cx="841248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594360" y="280720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B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56BB"/>
                </a:solidFill>
                <a:latin typeface="Calibri"/>
                <a:ea typeface="Calibri"/>
                <a:cs typeface="Calibri"/>
                <a:sym typeface="Calibri"/>
              </a:rPr>
              <a:t>Hesaplar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594360" y="3099816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HesapID (PK) · KullaniciID (FK) · Bakiye (DEFAULT 0) · HesapTuru · Tarih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457200" y="3511296"/>
            <a:ext cx="8412480" cy="658368"/>
          </a:xfrm>
          <a:prstGeom prst="rect">
            <a:avLst/>
          </a:prstGeom>
          <a:solidFill>
            <a:srgbClr val="E8F1FB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594360" y="3557016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B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56BB"/>
                </a:solidFill>
                <a:latin typeface="Calibri"/>
                <a:ea typeface="Calibri"/>
                <a:cs typeface="Calibri"/>
                <a:sym typeface="Calibri"/>
              </a:rPr>
              <a:t>Islemler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594360" y="3849624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IslemID (PK) · GonderenHesapID (FK) · AliciHesapID (FK) · Miktar · Tarih · Konum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457200" y="4261104"/>
            <a:ext cx="841248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594360" y="430682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B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56BB"/>
                </a:solidFill>
                <a:latin typeface="Calibri"/>
                <a:ea typeface="Calibri"/>
                <a:cs typeface="Calibri"/>
                <a:sym typeface="Calibri"/>
              </a:rPr>
              <a:t>DolandiricilikUyarilari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594360" y="4599432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UyariID (PK) · IslemID (FK) · RiskPuani (CHECK 0–100) · Durum · TespitTarihi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0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457200" y="13716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Trigger · Stored Procedure · Function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457200" y="713232"/>
            <a:ext cx="13716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411480" y="914400"/>
            <a:ext cx="8458200" cy="1261872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1A3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411480" y="914400"/>
            <a:ext cx="64008" cy="1261872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594360" y="98755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⚡  Trigger — trg_DolandiricilikKontrol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594360" y="1353312"/>
            <a:ext cx="49377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DD5F0"/>
                </a:solidFill>
                <a:latin typeface="Calibri"/>
                <a:ea typeface="Calibri"/>
                <a:cs typeface="Calibri"/>
                <a:sym typeface="Calibri"/>
              </a:rPr>
              <a:t>Islemler tablosuna yeni kayıt eklendikten sonra devreye girer. Miktar &gt; 10.000 TL ise DolandiricilikUyarilari tablosuna RiskPuani=85 ve Durum='Yuksek Risk' ile otomatik kayıt oluşturur.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5760720" y="1005840"/>
            <a:ext cx="2971800" cy="1078992"/>
          </a:xfrm>
          <a:prstGeom prst="rect">
            <a:avLst/>
          </a:prstGeom>
          <a:solidFill>
            <a:srgbClr val="060F25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5833872" y="1042416"/>
            <a:ext cx="2834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8A2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7EE8A2"/>
                </a:solidFill>
                <a:latin typeface="Consolas"/>
                <a:ea typeface="Consolas"/>
                <a:cs typeface="Consolas"/>
                <a:sym typeface="Consolas"/>
              </a:rPr>
              <a:t>AFTER INSERT ON Islemler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8A2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7EE8A2"/>
                </a:solidFill>
                <a:latin typeface="Consolas"/>
                <a:ea typeface="Consolas"/>
                <a:cs typeface="Consolas"/>
                <a:sym typeface="Consolas"/>
              </a:rPr>
              <a:t>WHERE Miktar &gt; 10000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8A2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7EE8A2"/>
                </a:solidFill>
                <a:latin typeface="Consolas"/>
                <a:ea typeface="Consolas"/>
                <a:cs typeface="Consolas"/>
                <a:sym typeface="Consolas"/>
              </a:rPr>
              <a:t>→ INSERT INTO DolandiricilikUyarilari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411480" y="2286000"/>
            <a:ext cx="8458200" cy="1261872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1A3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411480" y="2286000"/>
            <a:ext cx="64008" cy="1261872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594360" y="235915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📦  Stored Procedure — sp_RiskliIslemleriListele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594360" y="2724912"/>
            <a:ext cx="49377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DD5F0"/>
                </a:solidFill>
                <a:latin typeface="Calibri"/>
                <a:ea typeface="Calibri"/>
                <a:cs typeface="Calibri"/>
                <a:sym typeface="Calibri"/>
              </a:rPr>
              <a:t>Dolandırıcılık uyarı tablosunu temel alarak İşlemler, Hesaplar ve Kullanıcılar tablolarını JOIN ile birleştirir. Kullanıcı adı, miktar, risk puanı ve tarihi tek sorguda sunar.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5760720" y="2377440"/>
            <a:ext cx="2971800" cy="1078992"/>
          </a:xfrm>
          <a:prstGeom prst="rect">
            <a:avLst/>
          </a:prstGeom>
          <a:solidFill>
            <a:srgbClr val="060F25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5833872" y="2414016"/>
            <a:ext cx="2834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8A2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7EE8A2"/>
                </a:solidFill>
                <a:latin typeface="Consolas"/>
                <a:ea typeface="Consolas"/>
                <a:cs typeface="Consolas"/>
                <a:sym typeface="Consolas"/>
              </a:rPr>
              <a:t>SELECT K.AdSoyad, I.Miktar,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8A2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7EE8A2"/>
                </a:solidFill>
                <a:latin typeface="Consolas"/>
                <a:ea typeface="Consolas"/>
                <a:cs typeface="Consolas"/>
                <a:sym typeface="Consolas"/>
              </a:rPr>
              <a:t>  D.RiskPuani, D.Durum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8A2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7EE8A2"/>
                </a:solidFill>
                <a:latin typeface="Consolas"/>
                <a:ea typeface="Consolas"/>
                <a:cs typeface="Consolas"/>
                <a:sym typeface="Consolas"/>
              </a:rPr>
              <a:t>FROM DolandiricilikUyarilari 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8A2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7EE8A2"/>
                </a:solidFill>
                <a:latin typeface="Consolas"/>
                <a:ea typeface="Consolas"/>
                <a:cs typeface="Consolas"/>
                <a:sym typeface="Consolas"/>
              </a:rPr>
              <a:t>  JOIN Islemler, Hesaplar, Kullanicilar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411480" y="3657600"/>
            <a:ext cx="8458200" cy="1261872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1A3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411480" y="3657600"/>
            <a:ext cx="64008" cy="1261872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594360" y="373075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🔧  Function — fn_ToplamIslemTutari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594360" y="4096512"/>
            <a:ext cx="49377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DD5F0"/>
                </a:solidFill>
                <a:latin typeface="Calibri"/>
                <a:ea typeface="Calibri"/>
                <a:cs typeface="Calibri"/>
                <a:sym typeface="Calibri"/>
              </a:rPr>
              <a:t>Parametre olarak alınan KullaniciID değerine göre kullanıcının toplam gönderdiği parayı hesaplar. ISNULL ile işlem yoksa 0 döndürür. Tekrar kullanılabilir yapı sağlar.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5760720" y="3749040"/>
            <a:ext cx="2971800" cy="1078992"/>
          </a:xfrm>
          <a:prstGeom prst="rect">
            <a:avLst/>
          </a:prstGeom>
          <a:solidFill>
            <a:srgbClr val="060F25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5833872" y="3785616"/>
            <a:ext cx="2834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8A2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7EE8A2"/>
                </a:solidFill>
                <a:latin typeface="Consolas"/>
                <a:ea typeface="Consolas"/>
                <a:cs typeface="Consolas"/>
                <a:sym typeface="Consolas"/>
              </a:rPr>
              <a:t>fn_ToplamIslemTutari(@KullaniciID INT)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8A2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7EE8A2"/>
                </a:solidFill>
                <a:latin typeface="Consolas"/>
                <a:ea typeface="Consolas"/>
                <a:cs typeface="Consolas"/>
                <a:sym typeface="Consolas"/>
              </a:rPr>
              <a:t>RETURNS DECIMAL(18,2)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8A2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7EE8A2"/>
                </a:solidFill>
                <a:latin typeface="Consolas"/>
                <a:ea typeface="Consolas"/>
                <a:cs typeface="Consolas"/>
                <a:sym typeface="Consolas"/>
              </a:rPr>
              <a:t>SUM(Miktar) + ISNULL → 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45720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04  Gelişmiş Sorgular — JOIN · GROUP BY · HAVING · DATEADD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57200" y="749808"/>
            <a:ext cx="109728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411480" y="960120"/>
            <a:ext cx="845820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411480" y="960120"/>
            <a:ext cx="8458200" cy="54864"/>
          </a:xfrm>
          <a:prstGeom prst="rect">
            <a:avLst/>
          </a:prstGeom>
          <a:solidFill>
            <a:srgbClr val="1A56BB"/>
          </a:solidFill>
          <a:ln cap="flat" cmpd="sng" w="12700">
            <a:solidFill>
              <a:srgbClr val="1A56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566928" y="1051560"/>
            <a:ext cx="4754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Kullanıcı Bazlı İşlem Özeti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566928" y="1380744"/>
            <a:ext cx="6217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Kullanıcılar, Hesaplar ve İşlemler tabloları JOIN ile birleştirildi. GROUP BY ile kullanıcı bazında gruplama, HAVING ile toplam tutarı 1.000 TL üzerinde olanlar filtrelendi.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6903720" y="1435608"/>
            <a:ext cx="1828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B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56BB"/>
                </a:solidFill>
                <a:latin typeface="Calibri"/>
                <a:ea typeface="Calibri"/>
                <a:cs typeface="Calibri"/>
                <a:sym typeface="Calibri"/>
              </a:rPr>
              <a:t>→ Kullanıcı adı · İşlem sayısı · Toplam tutar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411480" y="2313432"/>
            <a:ext cx="845820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411480" y="2313432"/>
            <a:ext cx="8458200" cy="54864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566928" y="2404872"/>
            <a:ext cx="4754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Riskli İşlemleri Yapan Kişiler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566928" y="2734056"/>
            <a:ext cx="6217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DolandiricilikUyarilari → Islemler → Hesaplar → Kullanicilar zincirinde 4 tablo JOIN ile birleştirildi. Risk puanı ve durum bilgisi birlikte raporlandı.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6903720" y="2788920"/>
            <a:ext cx="1828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→ Kullanıcı · Miktar · Risk Puanı · Durum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411480" y="3666744"/>
            <a:ext cx="845820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411480" y="3666744"/>
            <a:ext cx="8458200" cy="54864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566928" y="3758184"/>
            <a:ext cx="4754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Son 30 Günde En Aktif Kullanıcı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566928" y="4087368"/>
            <a:ext cx="6217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DATEADD(DAY, -30, GETDATE()) ile tarih filtresi uygulandı. İşlemler kullanıcı bazında sayıldı, ORDER BY ile en yüksek işlem sayısına sahip kullanıcı TOP 1 ile çekildi.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6903720" y="4142232"/>
            <a:ext cx="1828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→ Kullanıcı adı · İşlem sayısı (son 30 gün)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0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457200" y="13716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CRUD İşlemleri — INSERT · UPDATE · DELETE · SELECT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457200" y="713232"/>
            <a:ext cx="1371600" cy="457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411480" y="914400"/>
            <a:ext cx="4160520" cy="1691640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411480" y="914400"/>
            <a:ext cx="960120" cy="1691640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457200" y="1188720"/>
            <a:ext cx="868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➕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457200" y="1737360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INSERT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1463040" y="1005840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Örnek Veri Ekleme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1463040" y="1389888"/>
            <a:ext cx="30175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DD5F0"/>
                </a:solidFill>
                <a:latin typeface="Calibri"/>
                <a:ea typeface="Calibri"/>
                <a:cs typeface="Calibri"/>
                <a:sym typeface="Calibri"/>
              </a:rPr>
              <a:t>Roller (Admin, Müşteri), 3 kullanıcı, 3 hesap ve 2 işlem eklendi. 10.000 TL üzerindeki işlem (12.500 TL / Ankara) Trigger'ı tetikleyerek otomatik uyarı kaydı oluşturdu.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4709160" y="914400"/>
            <a:ext cx="4160520" cy="1691640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4709160" y="914400"/>
            <a:ext cx="960120" cy="169164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4754880" y="1188720"/>
            <a:ext cx="868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✏️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4754880" y="1737360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UPDATE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5760720" y="1005840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Durum Güncelleme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5760720" y="1389888"/>
            <a:ext cx="30175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DD5F0"/>
                </a:solidFill>
                <a:latin typeface="Calibri"/>
                <a:ea typeface="Calibri"/>
                <a:cs typeface="Calibri"/>
                <a:sym typeface="Calibri"/>
              </a:rPr>
              <a:t>WHERE koşuluyla sadece belirli UyariID hedef alınarak DolandiricilikUyarilari tablosundaki ilgili kaydın Durum alanı 'İncelendi' şeklinde güncellendi. Diğer veriler dokunulmadı.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411480" y="2743200"/>
            <a:ext cx="4160520" cy="1691640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411480" y="2743200"/>
            <a:ext cx="960120" cy="16916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457200" y="3017520"/>
            <a:ext cx="868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🗑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457200" y="3566160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1463040" y="2834640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İşlem Silme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1463040" y="3218688"/>
            <a:ext cx="30175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DD5F0"/>
                </a:solidFill>
                <a:latin typeface="Calibri"/>
                <a:ea typeface="Calibri"/>
                <a:cs typeface="Calibri"/>
                <a:sym typeface="Calibri"/>
              </a:rPr>
              <a:t>Hatalı veya işlevini yitirmiş kayıtların sistemi temizlemek için WHERE IslemID = 1 koşuluyla hedefli silme işlemi gerçekleştirildi. Toplu veri kaybı riski önlendi.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4709160" y="2743200"/>
            <a:ext cx="4160520" cy="1691640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4709160" y="2743200"/>
            <a:ext cx="960120" cy="16916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4754880" y="3017520"/>
            <a:ext cx="868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4754880" y="3566160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 *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5760720" y="2834640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Tüm Tabloları Görüntüleme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5760720" y="3218688"/>
            <a:ext cx="30175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DD5F0"/>
                </a:solidFill>
                <a:latin typeface="Calibri"/>
                <a:ea typeface="Calibri"/>
                <a:cs typeface="Calibri"/>
                <a:sym typeface="Calibri"/>
              </a:rPr>
              <a:t>5 tablonun tamamı sırasıyla SELECT * ile listelendi: Roller, Kullanicilar, Hesaplar, Islemler, DolandiricilikUyarilari. Sistem bütünlüğü ve veri doğruluğu doğrulandı.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45720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05  Uygulama / Arayüz Entegrasyonu — C# Windows Forms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57200" y="749808"/>
            <a:ext cx="109728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2"/>
          <p:cNvSpPr/>
          <p:nvPr/>
        </p:nvSpPr>
        <p:spPr>
          <a:xfrm>
            <a:off x="411531" y="1005850"/>
            <a:ext cx="8643600" cy="393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411471" y="914400"/>
            <a:ext cx="8458200" cy="54900"/>
          </a:xfrm>
          <a:prstGeom prst="rect">
            <a:avLst/>
          </a:prstGeom>
          <a:solidFill>
            <a:srgbClr val="1A56BB"/>
          </a:solidFill>
          <a:ln cap="flat" cmpd="sng" w="12700">
            <a:solidFill>
              <a:srgbClr val="1A56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2"/>
          <p:cNvSpPr/>
          <p:nvPr/>
        </p:nvSpPr>
        <p:spPr>
          <a:xfrm>
            <a:off x="548640" y="1005840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40"/>
                </a:solidFill>
                <a:latin typeface="Calibri"/>
                <a:ea typeface="Calibri"/>
                <a:cs typeface="Calibri"/>
                <a:sym typeface="Calibri"/>
              </a:rPr>
              <a:t>C# Windows Forms Uygulaması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594360" y="144475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B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56BB"/>
                </a:solidFill>
                <a:latin typeface="Calibri"/>
                <a:ea typeface="Calibri"/>
                <a:cs typeface="Calibri"/>
                <a:sym typeface="Calibri"/>
              </a:rPr>
              <a:t>🎯 Senaryo Odaklılık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594360" y="1719072"/>
            <a:ext cx="4663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Dolandırıcılık Tespit Sistemi gereği yalnızca 'Riskli İşlemler' ekranda listelendi. Sıradan işlemler arasında kaybolma engellendi.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594360" y="226771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B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56BB"/>
                </a:solidFill>
                <a:latin typeface="Calibri"/>
                <a:ea typeface="Calibri"/>
                <a:cs typeface="Calibri"/>
                <a:sym typeface="Calibri"/>
              </a:rPr>
              <a:t>🔗 SQL Nesne Entegrasyonu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594360" y="2542032"/>
            <a:ext cx="4663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Trigger (trg_DolandiricilikKontrol) ile yakalanan veriler, Stored Procedure (sp_RiskliIslemleriListele) aracılığıyla uygulama katmanına taşındı.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594360" y="309067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B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56BB"/>
                </a:solidFill>
                <a:latin typeface="Calibri"/>
                <a:ea typeface="Calibri"/>
                <a:cs typeface="Calibri"/>
                <a:sym typeface="Calibri"/>
              </a:rPr>
              <a:t>⚡ ADO.NET Bağlantısı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594360" y="3364992"/>
            <a:ext cx="4663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SqlConnection ve SqlDataAdapter sınıfları kullanılarak veritabanına dinamik bağlantı kuruldu ve sonuçlar güvenli şekilde sunuldu.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594360" y="391363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B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56BB"/>
                </a:solidFill>
                <a:latin typeface="Calibri"/>
                <a:ea typeface="Calibri"/>
                <a:cs typeface="Calibri"/>
                <a:sym typeface="Calibri"/>
              </a:rPr>
              <a:t>👔 Admin Ekranı Tasarımı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594360" y="4187952"/>
            <a:ext cx="4663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Yalnızca müdahale gerektiren 'Yüksek Riskli' kayıtlar raporlanarak sistemin çözüm odaklı yapısı vurgulandı.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0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3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3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0A1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777240" y="274320"/>
            <a:ext cx="5669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Ne Yaptık?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777240" y="960120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Normalizasyon tablosu</a:t>
            </a:r>
            <a:r>
              <a:rPr b="0" i="0" lang="en-US" sz="12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 (3NF) tasarlandı ve uygulandı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777240" y="1481328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PRIMARY KEY, FOREIGN KEY, CHECK, UNIQUE, NOT NULL kullanıldı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777240" y="2002536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Trigger ile anlık dolandırıcılık tespiti gerçekleştirildi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777240" y="2523744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Stored Procedure ve Function ile modüler yapı oluşturuldu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777240" y="3044952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JOIN, GROUP BY, HAVING, DATEADD ile gelişmiş sorgular yazıldı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777240" y="3566160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C# / ADO.NET arayüzü ile veritabanı entegrasyonu sağlandı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777240" y="4087368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Admin ekranında sadece yüksek riskli işlemler raporlandı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777240" y="475488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07090"/>
                </a:solidFill>
                <a:latin typeface="Calibri"/>
                <a:ea typeface="Calibri"/>
                <a:cs typeface="Calibri"/>
                <a:sym typeface="Calibri"/>
              </a:rPr>
              <a:t>BİL 2004 Veritabanı Yönetimi  |  2025–2026 Bahar  |  Dokuz Eylül Üniversitesi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0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4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4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0A1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4"/>
          <p:cNvSpPr/>
          <p:nvPr/>
        </p:nvSpPr>
        <p:spPr>
          <a:xfrm>
            <a:off x="777240" y="274320"/>
            <a:ext cx="5669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Kaynakça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777240" y="475488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07090"/>
                </a:solidFill>
                <a:latin typeface="Calibri"/>
                <a:ea typeface="Calibri"/>
                <a:cs typeface="Calibri"/>
                <a:sym typeface="Calibri"/>
              </a:rPr>
              <a:t>BİL 2004 Veritabanı Yönetimi  |  2025–2026 Bahar  |  Dokuz Eylül Üniversitesi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 txBox="1"/>
          <p:nvPr/>
        </p:nvSpPr>
        <p:spPr>
          <a:xfrm>
            <a:off x="752775" y="888325"/>
            <a:ext cx="5922300" cy="44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72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Bolton, C.</a:t>
            </a:r>
            <a:r>
              <a:rPr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(2010). </a:t>
            </a:r>
            <a:r>
              <a:rPr i="1"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 SQL Server 2008 Relational Database Design and Implementation</a:t>
            </a:r>
            <a:r>
              <a:rPr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Apress. </a:t>
            </a:r>
            <a:endParaRPr sz="1200">
              <a:solidFill>
                <a:srgbClr val="D0E8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0E8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Date, C. J.</a:t>
            </a:r>
            <a:r>
              <a:rPr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(2003). </a:t>
            </a:r>
            <a:r>
              <a:rPr i="1"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Introduction to Database Systems</a:t>
            </a:r>
            <a:r>
              <a:rPr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(8. Baskı). Addison-Wesley. </a:t>
            </a:r>
            <a:endParaRPr sz="1200">
              <a:solidFill>
                <a:srgbClr val="D0E8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0E8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Dokuz Eylül Üniversitesi.</a:t>
            </a:r>
            <a:r>
              <a:rPr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(2025-2026). </a:t>
            </a:r>
            <a:r>
              <a:rPr i="1"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Bilgisayar Bilimleri Bölümü Ders Slaytları</a:t>
            </a:r>
            <a:r>
              <a:rPr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İzmir. </a:t>
            </a:r>
            <a:endParaRPr sz="1200">
              <a:solidFill>
                <a:srgbClr val="D0E8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0E8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Elmasri, R., &amp; Navathe, S. B.</a:t>
            </a:r>
            <a:r>
              <a:rPr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(2015). </a:t>
            </a:r>
            <a:r>
              <a:rPr i="1"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Fundamentals of Database Systems</a:t>
            </a:r>
            <a:r>
              <a:rPr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(7. Baskı). Pearson. </a:t>
            </a:r>
            <a:endParaRPr sz="1200">
              <a:solidFill>
                <a:srgbClr val="D0E8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0E8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Google.</a:t>
            </a:r>
            <a:r>
              <a:rPr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(2026). </a:t>
            </a:r>
            <a:r>
              <a:rPr i="1"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Gemini</a:t>
            </a:r>
            <a:r>
              <a:rPr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https://gemini.google.com </a:t>
            </a:r>
            <a:endParaRPr sz="1200">
              <a:solidFill>
                <a:srgbClr val="D0E8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0E8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0E8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63A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dc0d2467fe_0_21"/>
          <p:cNvSpPr/>
          <p:nvPr/>
        </p:nvSpPr>
        <p:spPr>
          <a:xfrm>
            <a:off x="0" y="0"/>
            <a:ext cx="54870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g3dc0d2467fe_0_21"/>
          <p:cNvSpPr/>
          <p:nvPr/>
        </p:nvSpPr>
        <p:spPr>
          <a:xfrm>
            <a:off x="6675120" y="0"/>
            <a:ext cx="2469000" cy="5143500"/>
          </a:xfrm>
          <a:prstGeom prst="rect">
            <a:avLst/>
          </a:prstGeom>
          <a:solidFill>
            <a:srgbClr val="0A1535"/>
          </a:solidFill>
          <a:ln cap="flat" cmpd="sng" w="12700">
            <a:solidFill>
              <a:srgbClr val="0A1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" name="Google Shape;388;g3dc0d2467fe_0_21"/>
          <p:cNvSpPr/>
          <p:nvPr/>
        </p:nvSpPr>
        <p:spPr>
          <a:xfrm>
            <a:off x="777240" y="274320"/>
            <a:ext cx="5669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Kaynakça</a:t>
            </a:r>
            <a:endParaRPr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dc0d2467fe_0_21"/>
          <p:cNvSpPr/>
          <p:nvPr/>
        </p:nvSpPr>
        <p:spPr>
          <a:xfrm>
            <a:off x="777240" y="4754880"/>
            <a:ext cx="5669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090"/>
              </a:buClr>
              <a:buSzPts val="900"/>
              <a:buFont typeface="Calibri"/>
              <a:buNone/>
            </a:pPr>
            <a:r>
              <a:rPr i="1" lang="en-US" sz="900" u="none" cap="none" strike="noStrike">
                <a:solidFill>
                  <a:srgbClr val="6070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BİL 2004 Veritabanı Yönetimi  |  2025–2026 Bahar  |  Dokuz Eylül Üniversitesi</a:t>
            </a:r>
            <a:endParaRPr i="0" sz="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" name="Google Shape;390;g3dc0d2467fe_0_21"/>
          <p:cNvSpPr txBox="1"/>
          <p:nvPr/>
        </p:nvSpPr>
        <p:spPr>
          <a:xfrm>
            <a:off x="692250" y="888325"/>
            <a:ext cx="59829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Microsoft. (2024). ADO.NET Documentation. https://learn.microsoft.com/tr-tr/dotnet/framework/data/adonet/ </a:t>
            </a:r>
            <a:endParaRPr b="1" sz="1200">
              <a:solidFill>
                <a:srgbClr val="D0E8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D0E8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D0E8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Microsoft. (2024). SQL Server Technical Documentation. https://learn.microsoft.com/tr-tr/sql/sql-server/ </a:t>
            </a:r>
            <a:endParaRPr b="1" sz="1200">
              <a:solidFill>
                <a:srgbClr val="D0E8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D0E8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D0E8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OpenAI. (2026). ChatGPT. https://chat.openai.com </a:t>
            </a:r>
            <a:endParaRPr b="1" sz="1200">
              <a:solidFill>
                <a:srgbClr val="D0E8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D0E8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D0E8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Ramakrishnan, R., &amp; Gehrke, J. (2003). Database Management Systems (3. Baskı). McGraw-Hill. </a:t>
            </a:r>
            <a:endParaRPr b="1" sz="1200">
              <a:solidFill>
                <a:srgbClr val="D0E8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D0E8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D0E8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D0E8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Silberschatz, A., Korth, H. F., &amp; Sudarshan, S. (2019). Database System Concepts (7. Baskı). McGraw-Hill. </a:t>
            </a:r>
            <a:endParaRPr b="1" sz="1200">
              <a:solidFill>
                <a:srgbClr val="D0E8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D0E8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2026-05-04T09:25:43Z</dcterms:created>
  <dc:creator>Berke BOZCA, Nazrin MAMMADOVA, Buse OZAN</dc:creator>
</cp:coreProperties>
</file>